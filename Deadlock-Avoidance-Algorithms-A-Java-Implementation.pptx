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4630400" cy="8229600"/>
  <p:notesSz cx="8229600" cy="14630400"/>
  <p:embeddedFontLst>
    <p:embeddedFont>
      <p:font typeface="Lora"/>
      <p:regular r:id="rId13"/>
    </p:embeddedFont>
    <p:embeddedFont>
      <p:font typeface="Lora"/>
      <p:regular r:id="rId14"/>
    </p:embeddedFont>
    <p:embeddedFont>
      <p:font typeface="Lora"/>
      <p:regular r:id="rId15"/>
    </p:embeddedFont>
    <p:embeddedFont>
      <p:font typeface="Lora"/>
      <p:regular r:id="rId1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1730216"/>
            <a:ext cx="7468553" cy="2112050"/>
          </a:xfrm>
          <a:prstGeom prst="rect">
            <a:avLst/>
          </a:prstGeom>
          <a:noFill/>
          <a:ln/>
        </p:spPr>
        <p:txBody>
          <a:bodyPr wrap="square" lIns="0" tIns="0" rIns="0" bIns="0" rtlCol="0" anchor="t"/>
          <a:lstStyle/>
          <a:p>
            <a:pPr indent="0" marL="0">
              <a:lnSpc>
                <a:spcPts val="5500"/>
              </a:lnSpc>
              <a:buNone/>
            </a:pPr>
            <a:r>
              <a:rPr lang="en-US" sz="4400" dirty="0">
                <a:solidFill>
                  <a:srgbClr val="F98AC7"/>
                </a:solidFill>
                <a:latin typeface="Lora" pitchFamily="34" charset="0"/>
                <a:ea typeface="Lora" pitchFamily="34" charset="-122"/>
                <a:cs typeface="Lora" pitchFamily="34" charset="-120"/>
              </a:rPr>
              <a:t>Deadlock Avoidance Algorithms: A Java Implementation</a:t>
            </a:r>
            <a:endParaRPr lang="en-US" sz="4400" dirty="0"/>
          </a:p>
        </p:txBody>
      </p:sp>
      <p:sp>
        <p:nvSpPr>
          <p:cNvPr id="4" name="Text 1"/>
          <p:cNvSpPr/>
          <p:nvPr/>
        </p:nvSpPr>
        <p:spPr>
          <a:xfrm>
            <a:off x="837724" y="4201239"/>
            <a:ext cx="7468553" cy="2298144"/>
          </a:xfrm>
          <a:prstGeom prst="rect">
            <a:avLst/>
          </a:prstGeom>
          <a:noFill/>
          <a:ln/>
        </p:spPr>
        <p:txBody>
          <a:bodyPr wrap="square" lIns="0" tIns="0" rIns="0" bIns="0" rtlCol="0" anchor="t"/>
          <a:lstStyle/>
          <a:p>
            <a:pPr indent="0" marL="0">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Deadlocks, a common challenge in operating systems, can lead to system crashes and inefficiencies. This presentation dives into two deadlock-avoidance algorithms, the Banker’s Algorithm and the Resource-Request Algorithm, implemented in Java. We will examine their roles in managing resources effectively, preventing deadlocks, and maintaining system safety.</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2294215"/>
            <a:ext cx="6075998" cy="704017"/>
          </a:xfrm>
          <a:prstGeom prst="rect">
            <a:avLst/>
          </a:prstGeom>
          <a:noFill/>
          <a:ln/>
        </p:spPr>
        <p:txBody>
          <a:bodyPr wrap="none" lIns="0" tIns="0" rIns="0" bIns="0" rtlCol="0" anchor="t"/>
          <a:lstStyle/>
          <a:p>
            <a:pPr indent="0" marL="0">
              <a:lnSpc>
                <a:spcPts val="5500"/>
              </a:lnSpc>
              <a:buNone/>
            </a:pPr>
            <a:r>
              <a:rPr lang="en-US" sz="4400" dirty="0">
                <a:solidFill>
                  <a:srgbClr val="F98AC7"/>
                </a:solidFill>
                <a:latin typeface="Lora" pitchFamily="34" charset="0"/>
                <a:ea typeface="Lora" pitchFamily="34" charset="-122"/>
                <a:cs typeface="Lora" pitchFamily="34" charset="-120"/>
              </a:rPr>
              <a:t>The Problem: Deadlock</a:t>
            </a:r>
            <a:endParaRPr lang="en-US" sz="4400" dirty="0"/>
          </a:p>
        </p:txBody>
      </p:sp>
      <p:sp>
        <p:nvSpPr>
          <p:cNvPr id="3" name="Text 1"/>
          <p:cNvSpPr/>
          <p:nvPr/>
        </p:nvSpPr>
        <p:spPr>
          <a:xfrm>
            <a:off x="837724" y="3596521"/>
            <a:ext cx="2816185" cy="351949"/>
          </a:xfrm>
          <a:prstGeom prst="rect">
            <a:avLst/>
          </a:prstGeom>
          <a:noFill/>
          <a:ln/>
        </p:spPr>
        <p:txBody>
          <a:bodyPr wrap="none" lIns="0" tIns="0" rIns="0" bIns="0" rtlCol="0" anchor="t"/>
          <a:lstStyle/>
          <a:p>
            <a:pPr indent="0" marL="0">
              <a:lnSpc>
                <a:spcPts val="2750"/>
              </a:lnSpc>
              <a:buNone/>
            </a:pPr>
            <a:r>
              <a:rPr lang="en-US" sz="2200" dirty="0">
                <a:solidFill>
                  <a:srgbClr val="F98AC7"/>
                </a:solidFill>
                <a:latin typeface="Lora" pitchFamily="34" charset="0"/>
                <a:ea typeface="Lora" pitchFamily="34" charset="-122"/>
                <a:cs typeface="Lora" pitchFamily="34" charset="-120"/>
              </a:rPr>
              <a:t>Process A</a:t>
            </a:r>
            <a:endParaRPr lang="en-US" sz="2200" dirty="0"/>
          </a:p>
        </p:txBody>
      </p:sp>
      <p:sp>
        <p:nvSpPr>
          <p:cNvPr id="4" name="Text 2"/>
          <p:cNvSpPr/>
          <p:nvPr/>
        </p:nvSpPr>
        <p:spPr>
          <a:xfrm>
            <a:off x="837724" y="4187785"/>
            <a:ext cx="3928586" cy="766048"/>
          </a:xfrm>
          <a:prstGeom prst="rect">
            <a:avLst/>
          </a:prstGeom>
          <a:noFill/>
          <a:ln/>
        </p:spPr>
        <p:txBody>
          <a:bodyPr wrap="square" lIns="0" tIns="0" rIns="0" bIns="0" rtlCol="0" anchor="t"/>
          <a:lstStyle/>
          <a:p>
            <a:pPr indent="0" marL="0">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Process A requests resource R1 but is blocked because it is held by Process B.</a:t>
            </a:r>
            <a:endParaRPr lang="en-US" sz="1850" dirty="0"/>
          </a:p>
        </p:txBody>
      </p:sp>
      <p:sp>
        <p:nvSpPr>
          <p:cNvPr id="5" name="Text 3"/>
          <p:cNvSpPr/>
          <p:nvPr/>
        </p:nvSpPr>
        <p:spPr>
          <a:xfrm>
            <a:off x="5357813" y="3596521"/>
            <a:ext cx="2816185" cy="351949"/>
          </a:xfrm>
          <a:prstGeom prst="rect">
            <a:avLst/>
          </a:prstGeom>
          <a:noFill/>
          <a:ln/>
        </p:spPr>
        <p:txBody>
          <a:bodyPr wrap="none" lIns="0" tIns="0" rIns="0" bIns="0" rtlCol="0" anchor="t"/>
          <a:lstStyle/>
          <a:p>
            <a:pPr indent="0" marL="0">
              <a:lnSpc>
                <a:spcPts val="2750"/>
              </a:lnSpc>
              <a:buNone/>
            </a:pPr>
            <a:r>
              <a:rPr lang="en-US" sz="2200" dirty="0">
                <a:solidFill>
                  <a:srgbClr val="F98AC7"/>
                </a:solidFill>
                <a:latin typeface="Lora" pitchFamily="34" charset="0"/>
                <a:ea typeface="Lora" pitchFamily="34" charset="-122"/>
                <a:cs typeface="Lora" pitchFamily="34" charset="-120"/>
              </a:rPr>
              <a:t>Process B</a:t>
            </a:r>
            <a:endParaRPr lang="en-US" sz="2200" dirty="0"/>
          </a:p>
        </p:txBody>
      </p:sp>
      <p:sp>
        <p:nvSpPr>
          <p:cNvPr id="6" name="Text 4"/>
          <p:cNvSpPr/>
          <p:nvPr/>
        </p:nvSpPr>
        <p:spPr>
          <a:xfrm>
            <a:off x="5357813" y="4187785"/>
            <a:ext cx="3928586" cy="766048"/>
          </a:xfrm>
          <a:prstGeom prst="rect">
            <a:avLst/>
          </a:prstGeom>
          <a:noFill/>
          <a:ln/>
        </p:spPr>
        <p:txBody>
          <a:bodyPr wrap="square" lIns="0" tIns="0" rIns="0" bIns="0" rtlCol="0" anchor="t"/>
          <a:lstStyle/>
          <a:p>
            <a:pPr indent="0" marL="0">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Process B requests resource R2 but is blocked because it is held by Process C.</a:t>
            </a:r>
            <a:endParaRPr lang="en-US" sz="1850" dirty="0"/>
          </a:p>
        </p:txBody>
      </p:sp>
      <p:sp>
        <p:nvSpPr>
          <p:cNvPr id="7" name="Text 5"/>
          <p:cNvSpPr/>
          <p:nvPr/>
        </p:nvSpPr>
        <p:spPr>
          <a:xfrm>
            <a:off x="9877901" y="3596521"/>
            <a:ext cx="2816185" cy="351949"/>
          </a:xfrm>
          <a:prstGeom prst="rect">
            <a:avLst/>
          </a:prstGeom>
          <a:noFill/>
          <a:ln/>
        </p:spPr>
        <p:txBody>
          <a:bodyPr wrap="none" lIns="0" tIns="0" rIns="0" bIns="0" rtlCol="0" anchor="t"/>
          <a:lstStyle/>
          <a:p>
            <a:pPr indent="0" marL="0">
              <a:lnSpc>
                <a:spcPts val="2750"/>
              </a:lnSpc>
              <a:buNone/>
            </a:pPr>
            <a:r>
              <a:rPr lang="en-US" sz="2200" dirty="0">
                <a:solidFill>
                  <a:srgbClr val="F98AC7"/>
                </a:solidFill>
                <a:latin typeface="Lora" pitchFamily="34" charset="0"/>
                <a:ea typeface="Lora" pitchFamily="34" charset="-122"/>
                <a:cs typeface="Lora" pitchFamily="34" charset="-120"/>
              </a:rPr>
              <a:t>Process C</a:t>
            </a:r>
            <a:endParaRPr lang="en-US" sz="2200" dirty="0"/>
          </a:p>
        </p:txBody>
      </p:sp>
      <p:sp>
        <p:nvSpPr>
          <p:cNvPr id="8" name="Text 6"/>
          <p:cNvSpPr/>
          <p:nvPr/>
        </p:nvSpPr>
        <p:spPr>
          <a:xfrm>
            <a:off x="9877901" y="4187785"/>
            <a:ext cx="3928586" cy="1532096"/>
          </a:xfrm>
          <a:prstGeom prst="rect">
            <a:avLst/>
          </a:prstGeom>
          <a:noFill/>
          <a:ln/>
        </p:spPr>
        <p:txBody>
          <a:bodyPr wrap="square" lIns="0" tIns="0" rIns="0" bIns="0" rtlCol="0" anchor="t"/>
          <a:lstStyle/>
          <a:p>
            <a:pPr indent="0" marL="0">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Process C requests resource R3 but is blocked because it is held by Process A. This circular dependency leads to a deadlock.</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43204" y="2253615"/>
            <a:ext cx="4887873" cy="3722370"/>
          </a:xfrm>
          <a:prstGeom prst="rect">
            <a:avLst/>
          </a:prstGeom>
        </p:spPr>
      </p:pic>
      <p:sp>
        <p:nvSpPr>
          <p:cNvPr id="4" name="Text 0"/>
          <p:cNvSpPr/>
          <p:nvPr/>
        </p:nvSpPr>
        <p:spPr>
          <a:xfrm>
            <a:off x="837724" y="796885"/>
            <a:ext cx="7468553" cy="1408033"/>
          </a:xfrm>
          <a:prstGeom prst="rect">
            <a:avLst/>
          </a:prstGeom>
          <a:noFill/>
          <a:ln/>
        </p:spPr>
        <p:txBody>
          <a:bodyPr wrap="square" lIns="0" tIns="0" rIns="0" bIns="0" rtlCol="0" anchor="t"/>
          <a:lstStyle/>
          <a:p>
            <a:pPr indent="0" marL="0">
              <a:lnSpc>
                <a:spcPts val="5500"/>
              </a:lnSpc>
              <a:buNone/>
            </a:pPr>
            <a:r>
              <a:rPr lang="en-US" sz="4400" dirty="0">
                <a:solidFill>
                  <a:srgbClr val="F98AC7"/>
                </a:solidFill>
                <a:latin typeface="Lora" pitchFamily="34" charset="0"/>
                <a:ea typeface="Lora" pitchFamily="34" charset="-122"/>
                <a:cs typeface="Lora" pitchFamily="34" charset="-120"/>
              </a:rPr>
              <a:t>Banker’s Algorithm: A Safe State</a:t>
            </a:r>
            <a:endParaRPr lang="en-US" sz="4400" dirty="0"/>
          </a:p>
        </p:txBody>
      </p:sp>
      <p:sp>
        <p:nvSpPr>
          <p:cNvPr id="5" name="Shape 1"/>
          <p:cNvSpPr/>
          <p:nvPr/>
        </p:nvSpPr>
        <p:spPr>
          <a:xfrm>
            <a:off x="837724" y="2563892"/>
            <a:ext cx="3614618" cy="2123242"/>
          </a:xfrm>
          <a:prstGeom prst="roundRect">
            <a:avLst>
              <a:gd name="adj" fmla="val 1691"/>
            </a:avLst>
          </a:prstGeom>
          <a:solidFill>
            <a:srgbClr val="444752"/>
          </a:solidFill>
          <a:ln/>
        </p:spPr>
      </p:sp>
      <p:sp>
        <p:nvSpPr>
          <p:cNvPr id="6" name="Text 2"/>
          <p:cNvSpPr/>
          <p:nvPr/>
        </p:nvSpPr>
        <p:spPr>
          <a:xfrm>
            <a:off x="1077039" y="2803208"/>
            <a:ext cx="2816185" cy="351949"/>
          </a:xfrm>
          <a:prstGeom prst="rect">
            <a:avLst/>
          </a:prstGeom>
          <a:noFill/>
          <a:ln/>
        </p:spPr>
        <p:txBody>
          <a:bodyPr wrap="none" lIns="0" tIns="0" rIns="0" bIns="0" rtlCol="0" anchor="t"/>
          <a:lstStyle/>
          <a:p>
            <a:pPr indent="0" marL="0">
              <a:lnSpc>
                <a:spcPts val="2750"/>
              </a:lnSpc>
              <a:buNone/>
            </a:pPr>
            <a:r>
              <a:rPr lang="en-US" sz="2200" dirty="0">
                <a:solidFill>
                  <a:srgbClr val="D6E5EF"/>
                </a:solidFill>
                <a:latin typeface="Lora" pitchFamily="34" charset="0"/>
                <a:ea typeface="Lora" pitchFamily="34" charset="-122"/>
                <a:cs typeface="Lora" pitchFamily="34" charset="-120"/>
              </a:rPr>
              <a:t>Available Vector</a:t>
            </a:r>
            <a:endParaRPr lang="en-US" sz="2200" dirty="0"/>
          </a:p>
        </p:txBody>
      </p:sp>
      <p:sp>
        <p:nvSpPr>
          <p:cNvPr id="7" name="Text 3"/>
          <p:cNvSpPr/>
          <p:nvPr/>
        </p:nvSpPr>
        <p:spPr>
          <a:xfrm>
            <a:off x="1077039" y="3298746"/>
            <a:ext cx="3135987" cy="766048"/>
          </a:xfrm>
          <a:prstGeom prst="rect">
            <a:avLst/>
          </a:prstGeom>
          <a:noFill/>
          <a:ln/>
        </p:spPr>
        <p:txBody>
          <a:bodyPr wrap="square" lIns="0" tIns="0" rIns="0" bIns="0" rtlCol="0" anchor="t"/>
          <a:lstStyle/>
          <a:p>
            <a:pPr indent="0" marL="0">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Tracks the number of resources currently available.</a:t>
            </a:r>
            <a:endParaRPr lang="en-US" sz="1850" dirty="0"/>
          </a:p>
        </p:txBody>
      </p:sp>
      <p:sp>
        <p:nvSpPr>
          <p:cNvPr id="8" name="Shape 4"/>
          <p:cNvSpPr/>
          <p:nvPr/>
        </p:nvSpPr>
        <p:spPr>
          <a:xfrm>
            <a:off x="4691658" y="2563892"/>
            <a:ext cx="3614618" cy="2123242"/>
          </a:xfrm>
          <a:prstGeom prst="roundRect">
            <a:avLst>
              <a:gd name="adj" fmla="val 1691"/>
            </a:avLst>
          </a:prstGeom>
          <a:solidFill>
            <a:srgbClr val="444752"/>
          </a:solidFill>
          <a:ln/>
        </p:spPr>
      </p:sp>
      <p:sp>
        <p:nvSpPr>
          <p:cNvPr id="9" name="Text 5"/>
          <p:cNvSpPr/>
          <p:nvPr/>
        </p:nvSpPr>
        <p:spPr>
          <a:xfrm>
            <a:off x="4930973" y="2803208"/>
            <a:ext cx="2816185" cy="351949"/>
          </a:xfrm>
          <a:prstGeom prst="rect">
            <a:avLst/>
          </a:prstGeom>
          <a:noFill/>
          <a:ln/>
        </p:spPr>
        <p:txBody>
          <a:bodyPr wrap="none" lIns="0" tIns="0" rIns="0" bIns="0" rtlCol="0" anchor="t"/>
          <a:lstStyle/>
          <a:p>
            <a:pPr indent="0" marL="0">
              <a:lnSpc>
                <a:spcPts val="2750"/>
              </a:lnSpc>
              <a:buNone/>
            </a:pPr>
            <a:r>
              <a:rPr lang="en-US" sz="2200" dirty="0">
                <a:solidFill>
                  <a:srgbClr val="D6E5EF"/>
                </a:solidFill>
                <a:latin typeface="Lora" pitchFamily="34" charset="0"/>
                <a:ea typeface="Lora" pitchFamily="34" charset="-122"/>
                <a:cs typeface="Lora" pitchFamily="34" charset="-120"/>
              </a:rPr>
              <a:t>Max Matrix</a:t>
            </a:r>
            <a:endParaRPr lang="en-US" sz="2200" dirty="0"/>
          </a:p>
        </p:txBody>
      </p:sp>
      <p:sp>
        <p:nvSpPr>
          <p:cNvPr id="10" name="Text 6"/>
          <p:cNvSpPr/>
          <p:nvPr/>
        </p:nvSpPr>
        <p:spPr>
          <a:xfrm>
            <a:off x="4930973" y="3298746"/>
            <a:ext cx="3135987" cy="1149072"/>
          </a:xfrm>
          <a:prstGeom prst="rect">
            <a:avLst/>
          </a:prstGeom>
          <a:noFill/>
          <a:ln/>
        </p:spPr>
        <p:txBody>
          <a:bodyPr wrap="square" lIns="0" tIns="0" rIns="0" bIns="0" rtlCol="0" anchor="t"/>
          <a:lstStyle/>
          <a:p>
            <a:pPr indent="0" marL="0">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Defines the maximum number of resources each process might need.</a:t>
            </a:r>
            <a:endParaRPr lang="en-US" sz="1850" dirty="0"/>
          </a:p>
        </p:txBody>
      </p:sp>
      <p:sp>
        <p:nvSpPr>
          <p:cNvPr id="11" name="Shape 7"/>
          <p:cNvSpPr/>
          <p:nvPr/>
        </p:nvSpPr>
        <p:spPr>
          <a:xfrm>
            <a:off x="837724" y="4926449"/>
            <a:ext cx="3614618" cy="2506266"/>
          </a:xfrm>
          <a:prstGeom prst="roundRect">
            <a:avLst>
              <a:gd name="adj" fmla="val 1433"/>
            </a:avLst>
          </a:prstGeom>
          <a:solidFill>
            <a:srgbClr val="444752"/>
          </a:solidFill>
          <a:ln/>
        </p:spPr>
      </p:sp>
      <p:sp>
        <p:nvSpPr>
          <p:cNvPr id="12" name="Text 8"/>
          <p:cNvSpPr/>
          <p:nvPr/>
        </p:nvSpPr>
        <p:spPr>
          <a:xfrm>
            <a:off x="1077039" y="5165765"/>
            <a:ext cx="2816185" cy="351949"/>
          </a:xfrm>
          <a:prstGeom prst="rect">
            <a:avLst/>
          </a:prstGeom>
          <a:noFill/>
          <a:ln/>
        </p:spPr>
        <p:txBody>
          <a:bodyPr wrap="none" lIns="0" tIns="0" rIns="0" bIns="0" rtlCol="0" anchor="t"/>
          <a:lstStyle/>
          <a:p>
            <a:pPr indent="0" marL="0">
              <a:lnSpc>
                <a:spcPts val="2750"/>
              </a:lnSpc>
              <a:buNone/>
            </a:pPr>
            <a:r>
              <a:rPr lang="en-US" sz="2200" dirty="0">
                <a:solidFill>
                  <a:srgbClr val="D6E5EF"/>
                </a:solidFill>
                <a:latin typeface="Lora" pitchFamily="34" charset="0"/>
                <a:ea typeface="Lora" pitchFamily="34" charset="-122"/>
                <a:cs typeface="Lora" pitchFamily="34" charset="-120"/>
              </a:rPr>
              <a:t>Allocation Matrix</a:t>
            </a:r>
            <a:endParaRPr lang="en-US" sz="2200" dirty="0"/>
          </a:p>
        </p:txBody>
      </p:sp>
      <p:sp>
        <p:nvSpPr>
          <p:cNvPr id="13" name="Text 9"/>
          <p:cNvSpPr/>
          <p:nvPr/>
        </p:nvSpPr>
        <p:spPr>
          <a:xfrm>
            <a:off x="1077039" y="5661303"/>
            <a:ext cx="3135987" cy="766048"/>
          </a:xfrm>
          <a:prstGeom prst="rect">
            <a:avLst/>
          </a:prstGeom>
          <a:noFill/>
          <a:ln/>
        </p:spPr>
        <p:txBody>
          <a:bodyPr wrap="square" lIns="0" tIns="0" rIns="0" bIns="0" rtlCol="0" anchor="t"/>
          <a:lstStyle/>
          <a:p>
            <a:pPr indent="0" marL="0">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Tracks the resources currently allocated to each process.</a:t>
            </a:r>
            <a:endParaRPr lang="en-US" sz="1850" dirty="0"/>
          </a:p>
        </p:txBody>
      </p:sp>
      <p:sp>
        <p:nvSpPr>
          <p:cNvPr id="14" name="Shape 10"/>
          <p:cNvSpPr/>
          <p:nvPr/>
        </p:nvSpPr>
        <p:spPr>
          <a:xfrm>
            <a:off x="4691658" y="4926449"/>
            <a:ext cx="3614618" cy="2506266"/>
          </a:xfrm>
          <a:prstGeom prst="roundRect">
            <a:avLst>
              <a:gd name="adj" fmla="val 1433"/>
            </a:avLst>
          </a:prstGeom>
          <a:solidFill>
            <a:srgbClr val="444752"/>
          </a:solidFill>
          <a:ln/>
        </p:spPr>
      </p:sp>
      <p:sp>
        <p:nvSpPr>
          <p:cNvPr id="15" name="Text 11"/>
          <p:cNvSpPr/>
          <p:nvPr/>
        </p:nvSpPr>
        <p:spPr>
          <a:xfrm>
            <a:off x="4930973" y="5165765"/>
            <a:ext cx="2816185" cy="351949"/>
          </a:xfrm>
          <a:prstGeom prst="rect">
            <a:avLst/>
          </a:prstGeom>
          <a:noFill/>
          <a:ln/>
        </p:spPr>
        <p:txBody>
          <a:bodyPr wrap="none" lIns="0" tIns="0" rIns="0" bIns="0" rtlCol="0" anchor="t"/>
          <a:lstStyle/>
          <a:p>
            <a:pPr indent="0" marL="0">
              <a:lnSpc>
                <a:spcPts val="2750"/>
              </a:lnSpc>
              <a:buNone/>
            </a:pPr>
            <a:r>
              <a:rPr lang="en-US" sz="2200" dirty="0">
                <a:solidFill>
                  <a:srgbClr val="D6E5EF"/>
                </a:solidFill>
                <a:latin typeface="Lora" pitchFamily="34" charset="0"/>
                <a:ea typeface="Lora" pitchFamily="34" charset="-122"/>
                <a:cs typeface="Lora" pitchFamily="34" charset="-120"/>
              </a:rPr>
              <a:t>Need Matrix</a:t>
            </a:r>
            <a:endParaRPr lang="en-US" sz="2200" dirty="0"/>
          </a:p>
        </p:txBody>
      </p:sp>
      <p:sp>
        <p:nvSpPr>
          <p:cNvPr id="16" name="Text 12"/>
          <p:cNvSpPr/>
          <p:nvPr/>
        </p:nvSpPr>
        <p:spPr>
          <a:xfrm>
            <a:off x="4930973" y="5661303"/>
            <a:ext cx="3135987" cy="1532096"/>
          </a:xfrm>
          <a:prstGeom prst="rect">
            <a:avLst/>
          </a:prstGeom>
          <a:noFill/>
          <a:ln/>
        </p:spPr>
        <p:txBody>
          <a:bodyPr wrap="square" lIns="0" tIns="0" rIns="0" bIns="0" rtlCol="0" anchor="t"/>
          <a:lstStyle/>
          <a:p>
            <a:pPr indent="0" marL="0">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Represents the remaining resource needs for each process, calculated as Max - Allocation.</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82216" y="458272"/>
            <a:ext cx="8472607" cy="489347"/>
          </a:xfrm>
          <a:prstGeom prst="rect">
            <a:avLst/>
          </a:prstGeom>
          <a:noFill/>
          <a:ln/>
        </p:spPr>
        <p:txBody>
          <a:bodyPr wrap="none" lIns="0" tIns="0" rIns="0" bIns="0" rtlCol="0" anchor="t"/>
          <a:lstStyle/>
          <a:p>
            <a:pPr indent="0" marL="0">
              <a:lnSpc>
                <a:spcPts val="3850"/>
              </a:lnSpc>
              <a:buNone/>
            </a:pPr>
            <a:r>
              <a:rPr lang="en-US" sz="3050" dirty="0">
                <a:solidFill>
                  <a:srgbClr val="F98AC7"/>
                </a:solidFill>
                <a:latin typeface="Lora" pitchFamily="34" charset="0"/>
                <a:ea typeface="Lora" pitchFamily="34" charset="-122"/>
                <a:cs typeface="Lora" pitchFamily="34" charset="-120"/>
              </a:rPr>
              <a:t>Resource-Request Algorithm: Dynamic Checks</a:t>
            </a:r>
            <a:endParaRPr lang="en-US" sz="3050" dirty="0"/>
          </a:p>
        </p:txBody>
      </p:sp>
      <p:sp>
        <p:nvSpPr>
          <p:cNvPr id="3" name="Shape 1"/>
          <p:cNvSpPr/>
          <p:nvPr/>
        </p:nvSpPr>
        <p:spPr>
          <a:xfrm>
            <a:off x="820222" y="1280279"/>
            <a:ext cx="22860" cy="6490930"/>
          </a:xfrm>
          <a:prstGeom prst="roundRect">
            <a:avLst>
              <a:gd name="adj" fmla="val 109164"/>
            </a:avLst>
          </a:prstGeom>
          <a:solidFill>
            <a:srgbClr val="5D606B"/>
          </a:solidFill>
          <a:ln/>
        </p:spPr>
      </p:sp>
      <p:sp>
        <p:nvSpPr>
          <p:cNvPr id="4" name="Shape 2"/>
          <p:cNvSpPr/>
          <p:nvPr/>
        </p:nvSpPr>
        <p:spPr>
          <a:xfrm>
            <a:off x="995898" y="1642943"/>
            <a:ext cx="582216" cy="22860"/>
          </a:xfrm>
          <a:prstGeom prst="roundRect">
            <a:avLst>
              <a:gd name="adj" fmla="val 109164"/>
            </a:avLst>
          </a:prstGeom>
          <a:solidFill>
            <a:srgbClr val="5D606B"/>
          </a:solidFill>
          <a:ln/>
        </p:spPr>
      </p:sp>
      <p:sp>
        <p:nvSpPr>
          <p:cNvPr id="5" name="Shape 3"/>
          <p:cNvSpPr/>
          <p:nvPr/>
        </p:nvSpPr>
        <p:spPr>
          <a:xfrm>
            <a:off x="644545" y="1467326"/>
            <a:ext cx="374213" cy="374213"/>
          </a:xfrm>
          <a:prstGeom prst="roundRect">
            <a:avLst>
              <a:gd name="adj" fmla="val 6669"/>
            </a:avLst>
          </a:prstGeom>
          <a:solidFill>
            <a:srgbClr val="444752"/>
          </a:solidFill>
          <a:ln/>
        </p:spPr>
      </p:sp>
      <p:sp>
        <p:nvSpPr>
          <p:cNvPr id="6" name="Text 4"/>
          <p:cNvSpPr/>
          <p:nvPr/>
        </p:nvSpPr>
        <p:spPr>
          <a:xfrm>
            <a:off x="788849" y="1536978"/>
            <a:ext cx="85487" cy="234910"/>
          </a:xfrm>
          <a:prstGeom prst="rect">
            <a:avLst/>
          </a:prstGeom>
          <a:noFill/>
          <a:ln/>
        </p:spPr>
        <p:txBody>
          <a:bodyPr wrap="none" lIns="0" tIns="0" rIns="0" bIns="0" rtlCol="0" anchor="t"/>
          <a:lstStyle/>
          <a:p>
            <a:pPr algn="ctr" indent="0" marL="0">
              <a:lnSpc>
                <a:spcPts val="1800"/>
              </a:lnSpc>
              <a:buNone/>
            </a:pPr>
            <a:r>
              <a:rPr lang="en-US" sz="1800" dirty="0">
                <a:solidFill>
                  <a:srgbClr val="D6E5EF"/>
                </a:solidFill>
                <a:latin typeface="Lora" pitchFamily="34" charset="0"/>
                <a:ea typeface="Lora" pitchFamily="34" charset="-122"/>
                <a:cs typeface="Lora" pitchFamily="34" charset="-120"/>
              </a:rPr>
              <a:t>1</a:t>
            </a:r>
            <a:endParaRPr lang="en-US" sz="1800" dirty="0"/>
          </a:p>
        </p:txBody>
      </p:sp>
      <p:sp>
        <p:nvSpPr>
          <p:cNvPr id="7" name="Text 5"/>
          <p:cNvSpPr/>
          <p:nvPr/>
        </p:nvSpPr>
        <p:spPr>
          <a:xfrm>
            <a:off x="1746647" y="1446609"/>
            <a:ext cx="1957149" cy="244673"/>
          </a:xfrm>
          <a:prstGeom prst="rect">
            <a:avLst/>
          </a:prstGeom>
          <a:noFill/>
          <a:ln/>
        </p:spPr>
        <p:txBody>
          <a:bodyPr wrap="none" lIns="0" tIns="0" rIns="0" bIns="0" rtlCol="0" anchor="t"/>
          <a:lstStyle/>
          <a:p>
            <a:pPr algn="l" indent="0" marL="0">
              <a:lnSpc>
                <a:spcPts val="1900"/>
              </a:lnSpc>
              <a:buNone/>
            </a:pPr>
            <a:r>
              <a:rPr lang="en-US" sz="1500" dirty="0">
                <a:solidFill>
                  <a:srgbClr val="D6E5EF"/>
                </a:solidFill>
                <a:latin typeface="Lora" pitchFamily="34" charset="0"/>
                <a:ea typeface="Lora" pitchFamily="34" charset="-122"/>
                <a:cs typeface="Lora" pitchFamily="34" charset="-120"/>
              </a:rPr>
              <a:t>Request Arrives</a:t>
            </a:r>
            <a:endParaRPr lang="en-US" sz="1500" dirty="0"/>
          </a:p>
        </p:txBody>
      </p:sp>
      <p:sp>
        <p:nvSpPr>
          <p:cNvPr id="8" name="Text 6"/>
          <p:cNvSpPr/>
          <p:nvPr/>
        </p:nvSpPr>
        <p:spPr>
          <a:xfrm>
            <a:off x="1746647" y="1791057"/>
            <a:ext cx="12301538" cy="266105"/>
          </a:xfrm>
          <a:prstGeom prst="rect">
            <a:avLst/>
          </a:prstGeom>
          <a:noFill/>
          <a:ln/>
        </p:spPr>
        <p:txBody>
          <a:bodyPr wrap="none" lIns="0" tIns="0" rIns="0" bIns="0" rtlCol="0" anchor="t"/>
          <a:lstStyle/>
          <a:p>
            <a:pPr algn="l" indent="0" marL="0">
              <a:lnSpc>
                <a:spcPts val="2050"/>
              </a:lnSpc>
              <a:buNone/>
            </a:pPr>
            <a:r>
              <a:rPr lang="en-US" sz="1300" dirty="0">
                <a:solidFill>
                  <a:srgbClr val="D6E5EF"/>
                </a:solidFill>
                <a:latin typeface="Source Sans Pro" pitchFamily="34" charset="0"/>
                <a:ea typeface="Source Sans Pro" pitchFamily="34" charset="-122"/>
                <a:cs typeface="Source Sans Pro" pitchFamily="34" charset="-120"/>
              </a:rPr>
              <a:t>A process requests resources.</a:t>
            </a:r>
            <a:endParaRPr lang="en-US" sz="1300" dirty="0"/>
          </a:p>
        </p:txBody>
      </p:sp>
      <p:sp>
        <p:nvSpPr>
          <p:cNvPr id="9" name="Shape 7"/>
          <p:cNvSpPr/>
          <p:nvPr/>
        </p:nvSpPr>
        <p:spPr>
          <a:xfrm>
            <a:off x="995898" y="2752487"/>
            <a:ext cx="582216" cy="22860"/>
          </a:xfrm>
          <a:prstGeom prst="roundRect">
            <a:avLst>
              <a:gd name="adj" fmla="val 109164"/>
            </a:avLst>
          </a:prstGeom>
          <a:solidFill>
            <a:srgbClr val="5D606B"/>
          </a:solidFill>
          <a:ln/>
        </p:spPr>
      </p:sp>
      <p:sp>
        <p:nvSpPr>
          <p:cNvPr id="10" name="Shape 8"/>
          <p:cNvSpPr/>
          <p:nvPr/>
        </p:nvSpPr>
        <p:spPr>
          <a:xfrm>
            <a:off x="644545" y="2576870"/>
            <a:ext cx="374213" cy="374213"/>
          </a:xfrm>
          <a:prstGeom prst="roundRect">
            <a:avLst>
              <a:gd name="adj" fmla="val 6669"/>
            </a:avLst>
          </a:prstGeom>
          <a:solidFill>
            <a:srgbClr val="444752"/>
          </a:solidFill>
          <a:ln/>
        </p:spPr>
      </p:sp>
      <p:sp>
        <p:nvSpPr>
          <p:cNvPr id="11" name="Text 9"/>
          <p:cNvSpPr/>
          <p:nvPr/>
        </p:nvSpPr>
        <p:spPr>
          <a:xfrm>
            <a:off x="768608" y="2646521"/>
            <a:ext cx="126087" cy="234910"/>
          </a:xfrm>
          <a:prstGeom prst="rect">
            <a:avLst/>
          </a:prstGeom>
          <a:noFill/>
          <a:ln/>
        </p:spPr>
        <p:txBody>
          <a:bodyPr wrap="none" lIns="0" tIns="0" rIns="0" bIns="0" rtlCol="0" anchor="t"/>
          <a:lstStyle/>
          <a:p>
            <a:pPr algn="ctr" indent="0" marL="0">
              <a:lnSpc>
                <a:spcPts val="1800"/>
              </a:lnSpc>
              <a:buNone/>
            </a:pPr>
            <a:r>
              <a:rPr lang="en-US" sz="1800" dirty="0">
                <a:solidFill>
                  <a:srgbClr val="D6E5EF"/>
                </a:solidFill>
                <a:latin typeface="Lora" pitchFamily="34" charset="0"/>
                <a:ea typeface="Lora" pitchFamily="34" charset="-122"/>
                <a:cs typeface="Lora" pitchFamily="34" charset="-120"/>
              </a:rPr>
              <a:t>2</a:t>
            </a:r>
            <a:endParaRPr lang="en-US" sz="1800" dirty="0"/>
          </a:p>
        </p:txBody>
      </p:sp>
      <p:sp>
        <p:nvSpPr>
          <p:cNvPr id="12" name="Text 10"/>
          <p:cNvSpPr/>
          <p:nvPr/>
        </p:nvSpPr>
        <p:spPr>
          <a:xfrm>
            <a:off x="1746647" y="2556153"/>
            <a:ext cx="1957149" cy="244673"/>
          </a:xfrm>
          <a:prstGeom prst="rect">
            <a:avLst/>
          </a:prstGeom>
          <a:noFill/>
          <a:ln/>
        </p:spPr>
        <p:txBody>
          <a:bodyPr wrap="none" lIns="0" tIns="0" rIns="0" bIns="0" rtlCol="0" anchor="t"/>
          <a:lstStyle/>
          <a:p>
            <a:pPr algn="l" indent="0" marL="0">
              <a:lnSpc>
                <a:spcPts val="1900"/>
              </a:lnSpc>
              <a:buNone/>
            </a:pPr>
            <a:r>
              <a:rPr lang="en-US" sz="1500" dirty="0">
                <a:solidFill>
                  <a:srgbClr val="D6E5EF"/>
                </a:solidFill>
                <a:latin typeface="Lora" pitchFamily="34" charset="0"/>
                <a:ea typeface="Lora" pitchFamily="34" charset="-122"/>
                <a:cs typeface="Lora" pitchFamily="34" charset="-120"/>
              </a:rPr>
              <a:t>Check Limits</a:t>
            </a:r>
            <a:endParaRPr lang="en-US" sz="1500" dirty="0"/>
          </a:p>
        </p:txBody>
      </p:sp>
      <p:sp>
        <p:nvSpPr>
          <p:cNvPr id="13" name="Text 11"/>
          <p:cNvSpPr/>
          <p:nvPr/>
        </p:nvSpPr>
        <p:spPr>
          <a:xfrm>
            <a:off x="1746647" y="2900601"/>
            <a:ext cx="12301538" cy="266105"/>
          </a:xfrm>
          <a:prstGeom prst="rect">
            <a:avLst/>
          </a:prstGeom>
          <a:noFill/>
          <a:ln/>
        </p:spPr>
        <p:txBody>
          <a:bodyPr wrap="none" lIns="0" tIns="0" rIns="0" bIns="0" rtlCol="0" anchor="t"/>
          <a:lstStyle/>
          <a:p>
            <a:pPr algn="l" indent="0" marL="0">
              <a:lnSpc>
                <a:spcPts val="2050"/>
              </a:lnSpc>
              <a:buNone/>
            </a:pPr>
            <a:r>
              <a:rPr lang="en-US" sz="1300" dirty="0">
                <a:solidFill>
                  <a:srgbClr val="D6E5EF"/>
                </a:solidFill>
                <a:latin typeface="Source Sans Pro" pitchFamily="34" charset="0"/>
                <a:ea typeface="Source Sans Pro" pitchFamily="34" charset="-122"/>
                <a:cs typeface="Source Sans Pro" pitchFamily="34" charset="-120"/>
              </a:rPr>
              <a:t>Verify that the requested resources are within the process’s declared need.</a:t>
            </a:r>
            <a:endParaRPr lang="en-US" sz="1300" dirty="0"/>
          </a:p>
        </p:txBody>
      </p:sp>
      <p:sp>
        <p:nvSpPr>
          <p:cNvPr id="14" name="Shape 12"/>
          <p:cNvSpPr/>
          <p:nvPr/>
        </p:nvSpPr>
        <p:spPr>
          <a:xfrm>
            <a:off x="995898" y="3862030"/>
            <a:ext cx="582216" cy="22860"/>
          </a:xfrm>
          <a:prstGeom prst="roundRect">
            <a:avLst>
              <a:gd name="adj" fmla="val 109164"/>
            </a:avLst>
          </a:prstGeom>
          <a:solidFill>
            <a:srgbClr val="5D606B"/>
          </a:solidFill>
          <a:ln/>
        </p:spPr>
      </p:sp>
      <p:sp>
        <p:nvSpPr>
          <p:cNvPr id="15" name="Shape 13"/>
          <p:cNvSpPr/>
          <p:nvPr/>
        </p:nvSpPr>
        <p:spPr>
          <a:xfrm>
            <a:off x="644545" y="3686413"/>
            <a:ext cx="374213" cy="374213"/>
          </a:xfrm>
          <a:prstGeom prst="roundRect">
            <a:avLst>
              <a:gd name="adj" fmla="val 6669"/>
            </a:avLst>
          </a:prstGeom>
          <a:solidFill>
            <a:srgbClr val="444752"/>
          </a:solidFill>
          <a:ln/>
        </p:spPr>
      </p:sp>
      <p:sp>
        <p:nvSpPr>
          <p:cNvPr id="16" name="Text 14"/>
          <p:cNvSpPr/>
          <p:nvPr/>
        </p:nvSpPr>
        <p:spPr>
          <a:xfrm>
            <a:off x="766227" y="3756065"/>
            <a:ext cx="130850" cy="234910"/>
          </a:xfrm>
          <a:prstGeom prst="rect">
            <a:avLst/>
          </a:prstGeom>
          <a:noFill/>
          <a:ln/>
        </p:spPr>
        <p:txBody>
          <a:bodyPr wrap="none" lIns="0" tIns="0" rIns="0" bIns="0" rtlCol="0" anchor="t"/>
          <a:lstStyle/>
          <a:p>
            <a:pPr algn="ctr" indent="0" marL="0">
              <a:lnSpc>
                <a:spcPts val="1800"/>
              </a:lnSpc>
              <a:buNone/>
            </a:pPr>
            <a:r>
              <a:rPr lang="en-US" sz="1800" dirty="0">
                <a:solidFill>
                  <a:srgbClr val="D6E5EF"/>
                </a:solidFill>
                <a:latin typeface="Lora" pitchFamily="34" charset="0"/>
                <a:ea typeface="Lora" pitchFamily="34" charset="-122"/>
                <a:cs typeface="Lora" pitchFamily="34" charset="-120"/>
              </a:rPr>
              <a:t>3</a:t>
            </a:r>
            <a:endParaRPr lang="en-US" sz="1800" dirty="0"/>
          </a:p>
        </p:txBody>
      </p:sp>
      <p:sp>
        <p:nvSpPr>
          <p:cNvPr id="17" name="Text 15"/>
          <p:cNvSpPr/>
          <p:nvPr/>
        </p:nvSpPr>
        <p:spPr>
          <a:xfrm>
            <a:off x="1746647" y="3665696"/>
            <a:ext cx="1957149" cy="244673"/>
          </a:xfrm>
          <a:prstGeom prst="rect">
            <a:avLst/>
          </a:prstGeom>
          <a:noFill/>
          <a:ln/>
        </p:spPr>
        <p:txBody>
          <a:bodyPr wrap="none" lIns="0" tIns="0" rIns="0" bIns="0" rtlCol="0" anchor="t"/>
          <a:lstStyle/>
          <a:p>
            <a:pPr algn="l" indent="0" marL="0">
              <a:lnSpc>
                <a:spcPts val="1900"/>
              </a:lnSpc>
              <a:buNone/>
            </a:pPr>
            <a:r>
              <a:rPr lang="en-US" sz="1500" dirty="0">
                <a:solidFill>
                  <a:srgbClr val="D6E5EF"/>
                </a:solidFill>
                <a:latin typeface="Lora" pitchFamily="34" charset="0"/>
                <a:ea typeface="Lora" pitchFamily="34" charset="-122"/>
                <a:cs typeface="Lora" pitchFamily="34" charset="-120"/>
              </a:rPr>
              <a:t>Check Availability</a:t>
            </a:r>
            <a:endParaRPr lang="en-US" sz="1500" dirty="0"/>
          </a:p>
        </p:txBody>
      </p:sp>
      <p:sp>
        <p:nvSpPr>
          <p:cNvPr id="18" name="Text 16"/>
          <p:cNvSpPr/>
          <p:nvPr/>
        </p:nvSpPr>
        <p:spPr>
          <a:xfrm>
            <a:off x="1746647" y="4010144"/>
            <a:ext cx="12301538" cy="266105"/>
          </a:xfrm>
          <a:prstGeom prst="rect">
            <a:avLst/>
          </a:prstGeom>
          <a:noFill/>
          <a:ln/>
        </p:spPr>
        <p:txBody>
          <a:bodyPr wrap="none" lIns="0" tIns="0" rIns="0" bIns="0" rtlCol="0" anchor="t"/>
          <a:lstStyle/>
          <a:p>
            <a:pPr algn="l" indent="0" marL="0">
              <a:lnSpc>
                <a:spcPts val="2050"/>
              </a:lnSpc>
              <a:buNone/>
            </a:pPr>
            <a:r>
              <a:rPr lang="en-US" sz="1300" dirty="0">
                <a:solidFill>
                  <a:srgbClr val="D6E5EF"/>
                </a:solidFill>
                <a:latin typeface="Source Sans Pro" pitchFamily="34" charset="0"/>
                <a:ea typeface="Source Sans Pro" pitchFamily="34" charset="-122"/>
                <a:cs typeface="Source Sans Pro" pitchFamily="34" charset="-120"/>
              </a:rPr>
              <a:t>Ensure that the requested resources are currently available.</a:t>
            </a:r>
            <a:endParaRPr lang="en-US" sz="1300" dirty="0"/>
          </a:p>
        </p:txBody>
      </p:sp>
      <p:sp>
        <p:nvSpPr>
          <p:cNvPr id="19" name="Shape 17"/>
          <p:cNvSpPr/>
          <p:nvPr/>
        </p:nvSpPr>
        <p:spPr>
          <a:xfrm>
            <a:off x="995898" y="4971574"/>
            <a:ext cx="582216" cy="22860"/>
          </a:xfrm>
          <a:prstGeom prst="roundRect">
            <a:avLst>
              <a:gd name="adj" fmla="val 109164"/>
            </a:avLst>
          </a:prstGeom>
          <a:solidFill>
            <a:srgbClr val="5D606B"/>
          </a:solidFill>
          <a:ln/>
        </p:spPr>
      </p:sp>
      <p:sp>
        <p:nvSpPr>
          <p:cNvPr id="20" name="Shape 18"/>
          <p:cNvSpPr/>
          <p:nvPr/>
        </p:nvSpPr>
        <p:spPr>
          <a:xfrm>
            <a:off x="644545" y="4795957"/>
            <a:ext cx="374213" cy="374213"/>
          </a:xfrm>
          <a:prstGeom prst="roundRect">
            <a:avLst>
              <a:gd name="adj" fmla="val 6669"/>
            </a:avLst>
          </a:prstGeom>
          <a:solidFill>
            <a:srgbClr val="444752"/>
          </a:solidFill>
          <a:ln/>
        </p:spPr>
      </p:sp>
      <p:sp>
        <p:nvSpPr>
          <p:cNvPr id="21" name="Text 19"/>
          <p:cNvSpPr/>
          <p:nvPr/>
        </p:nvSpPr>
        <p:spPr>
          <a:xfrm>
            <a:off x="768013" y="4865608"/>
            <a:ext cx="127278" cy="234910"/>
          </a:xfrm>
          <a:prstGeom prst="rect">
            <a:avLst/>
          </a:prstGeom>
          <a:noFill/>
          <a:ln/>
        </p:spPr>
        <p:txBody>
          <a:bodyPr wrap="none" lIns="0" tIns="0" rIns="0" bIns="0" rtlCol="0" anchor="t"/>
          <a:lstStyle/>
          <a:p>
            <a:pPr algn="ctr" indent="0" marL="0">
              <a:lnSpc>
                <a:spcPts val="1800"/>
              </a:lnSpc>
              <a:buNone/>
            </a:pPr>
            <a:r>
              <a:rPr lang="en-US" sz="1800" dirty="0">
                <a:solidFill>
                  <a:srgbClr val="D6E5EF"/>
                </a:solidFill>
                <a:latin typeface="Lora" pitchFamily="34" charset="0"/>
                <a:ea typeface="Lora" pitchFamily="34" charset="-122"/>
                <a:cs typeface="Lora" pitchFamily="34" charset="-120"/>
              </a:rPr>
              <a:t>4</a:t>
            </a:r>
            <a:endParaRPr lang="en-US" sz="1800" dirty="0"/>
          </a:p>
        </p:txBody>
      </p:sp>
      <p:sp>
        <p:nvSpPr>
          <p:cNvPr id="22" name="Text 20"/>
          <p:cNvSpPr/>
          <p:nvPr/>
        </p:nvSpPr>
        <p:spPr>
          <a:xfrm>
            <a:off x="1746647" y="4775240"/>
            <a:ext cx="1957149" cy="244673"/>
          </a:xfrm>
          <a:prstGeom prst="rect">
            <a:avLst/>
          </a:prstGeom>
          <a:noFill/>
          <a:ln/>
        </p:spPr>
        <p:txBody>
          <a:bodyPr wrap="none" lIns="0" tIns="0" rIns="0" bIns="0" rtlCol="0" anchor="t"/>
          <a:lstStyle/>
          <a:p>
            <a:pPr algn="l" indent="0" marL="0">
              <a:lnSpc>
                <a:spcPts val="1900"/>
              </a:lnSpc>
              <a:buNone/>
            </a:pPr>
            <a:r>
              <a:rPr lang="en-US" sz="1500" dirty="0">
                <a:solidFill>
                  <a:srgbClr val="D6E5EF"/>
                </a:solidFill>
                <a:latin typeface="Lora" pitchFamily="34" charset="0"/>
                <a:ea typeface="Lora" pitchFamily="34" charset="-122"/>
                <a:cs typeface="Lora" pitchFamily="34" charset="-120"/>
              </a:rPr>
              <a:t>Trial Allocation</a:t>
            </a:r>
            <a:endParaRPr lang="en-US" sz="1500" dirty="0"/>
          </a:p>
        </p:txBody>
      </p:sp>
      <p:sp>
        <p:nvSpPr>
          <p:cNvPr id="23" name="Text 21"/>
          <p:cNvSpPr/>
          <p:nvPr/>
        </p:nvSpPr>
        <p:spPr>
          <a:xfrm>
            <a:off x="1746647" y="5119687"/>
            <a:ext cx="12301538" cy="266105"/>
          </a:xfrm>
          <a:prstGeom prst="rect">
            <a:avLst/>
          </a:prstGeom>
          <a:noFill/>
          <a:ln/>
        </p:spPr>
        <p:txBody>
          <a:bodyPr wrap="none" lIns="0" tIns="0" rIns="0" bIns="0" rtlCol="0" anchor="t"/>
          <a:lstStyle/>
          <a:p>
            <a:pPr algn="l" indent="0" marL="0">
              <a:lnSpc>
                <a:spcPts val="2050"/>
              </a:lnSpc>
              <a:buNone/>
            </a:pPr>
            <a:r>
              <a:rPr lang="en-US" sz="1300" dirty="0">
                <a:solidFill>
                  <a:srgbClr val="D6E5EF"/>
                </a:solidFill>
                <a:latin typeface="Source Sans Pro" pitchFamily="34" charset="0"/>
                <a:ea typeface="Source Sans Pro" pitchFamily="34" charset="-122"/>
                <a:cs typeface="Source Sans Pro" pitchFamily="34" charset="-120"/>
              </a:rPr>
              <a:t>Temporarily allocate resources to the process.</a:t>
            </a:r>
            <a:endParaRPr lang="en-US" sz="1300" dirty="0"/>
          </a:p>
        </p:txBody>
      </p:sp>
      <p:sp>
        <p:nvSpPr>
          <p:cNvPr id="24" name="Shape 22"/>
          <p:cNvSpPr/>
          <p:nvPr/>
        </p:nvSpPr>
        <p:spPr>
          <a:xfrm>
            <a:off x="995898" y="6081117"/>
            <a:ext cx="582216" cy="22860"/>
          </a:xfrm>
          <a:prstGeom prst="roundRect">
            <a:avLst>
              <a:gd name="adj" fmla="val 109164"/>
            </a:avLst>
          </a:prstGeom>
          <a:solidFill>
            <a:srgbClr val="5D606B"/>
          </a:solidFill>
          <a:ln/>
        </p:spPr>
      </p:sp>
      <p:sp>
        <p:nvSpPr>
          <p:cNvPr id="25" name="Shape 23"/>
          <p:cNvSpPr/>
          <p:nvPr/>
        </p:nvSpPr>
        <p:spPr>
          <a:xfrm>
            <a:off x="644545" y="5905500"/>
            <a:ext cx="374213" cy="374213"/>
          </a:xfrm>
          <a:prstGeom prst="roundRect">
            <a:avLst>
              <a:gd name="adj" fmla="val 6669"/>
            </a:avLst>
          </a:prstGeom>
          <a:solidFill>
            <a:srgbClr val="444752"/>
          </a:solidFill>
          <a:ln/>
        </p:spPr>
      </p:sp>
      <p:sp>
        <p:nvSpPr>
          <p:cNvPr id="26" name="Text 24"/>
          <p:cNvSpPr/>
          <p:nvPr/>
        </p:nvSpPr>
        <p:spPr>
          <a:xfrm>
            <a:off x="767655" y="5975152"/>
            <a:ext cx="127992" cy="234910"/>
          </a:xfrm>
          <a:prstGeom prst="rect">
            <a:avLst/>
          </a:prstGeom>
          <a:noFill/>
          <a:ln/>
        </p:spPr>
        <p:txBody>
          <a:bodyPr wrap="none" lIns="0" tIns="0" rIns="0" bIns="0" rtlCol="0" anchor="t"/>
          <a:lstStyle/>
          <a:p>
            <a:pPr algn="ctr" indent="0" marL="0">
              <a:lnSpc>
                <a:spcPts val="1800"/>
              </a:lnSpc>
              <a:buNone/>
            </a:pPr>
            <a:r>
              <a:rPr lang="en-US" sz="1800" dirty="0">
                <a:solidFill>
                  <a:srgbClr val="D6E5EF"/>
                </a:solidFill>
                <a:latin typeface="Lora" pitchFamily="34" charset="0"/>
                <a:ea typeface="Lora" pitchFamily="34" charset="-122"/>
                <a:cs typeface="Lora" pitchFamily="34" charset="-120"/>
              </a:rPr>
              <a:t>5</a:t>
            </a:r>
            <a:endParaRPr lang="en-US" sz="1800" dirty="0"/>
          </a:p>
        </p:txBody>
      </p:sp>
      <p:sp>
        <p:nvSpPr>
          <p:cNvPr id="27" name="Text 25"/>
          <p:cNvSpPr/>
          <p:nvPr/>
        </p:nvSpPr>
        <p:spPr>
          <a:xfrm>
            <a:off x="1746647" y="5884783"/>
            <a:ext cx="1957149" cy="244673"/>
          </a:xfrm>
          <a:prstGeom prst="rect">
            <a:avLst/>
          </a:prstGeom>
          <a:noFill/>
          <a:ln/>
        </p:spPr>
        <p:txBody>
          <a:bodyPr wrap="none" lIns="0" tIns="0" rIns="0" bIns="0" rtlCol="0" anchor="t"/>
          <a:lstStyle/>
          <a:p>
            <a:pPr algn="l" indent="0" marL="0">
              <a:lnSpc>
                <a:spcPts val="1900"/>
              </a:lnSpc>
              <a:buNone/>
            </a:pPr>
            <a:r>
              <a:rPr lang="en-US" sz="1500" dirty="0">
                <a:solidFill>
                  <a:srgbClr val="D6E5EF"/>
                </a:solidFill>
                <a:latin typeface="Lora" pitchFamily="34" charset="0"/>
                <a:ea typeface="Lora" pitchFamily="34" charset="-122"/>
                <a:cs typeface="Lora" pitchFamily="34" charset="-120"/>
              </a:rPr>
              <a:t>Safety Check</a:t>
            </a:r>
            <a:endParaRPr lang="en-US" sz="1500" dirty="0"/>
          </a:p>
        </p:txBody>
      </p:sp>
      <p:sp>
        <p:nvSpPr>
          <p:cNvPr id="28" name="Text 26"/>
          <p:cNvSpPr/>
          <p:nvPr/>
        </p:nvSpPr>
        <p:spPr>
          <a:xfrm>
            <a:off x="1746647" y="6229231"/>
            <a:ext cx="12301538" cy="266105"/>
          </a:xfrm>
          <a:prstGeom prst="rect">
            <a:avLst/>
          </a:prstGeom>
          <a:noFill/>
          <a:ln/>
        </p:spPr>
        <p:txBody>
          <a:bodyPr wrap="none" lIns="0" tIns="0" rIns="0" bIns="0" rtlCol="0" anchor="t"/>
          <a:lstStyle/>
          <a:p>
            <a:pPr algn="l" indent="0" marL="0">
              <a:lnSpc>
                <a:spcPts val="2050"/>
              </a:lnSpc>
              <a:buNone/>
            </a:pPr>
            <a:r>
              <a:rPr lang="en-US" sz="1300" dirty="0">
                <a:solidFill>
                  <a:srgbClr val="D6E5EF"/>
                </a:solidFill>
                <a:latin typeface="Source Sans Pro" pitchFamily="34" charset="0"/>
                <a:ea typeface="Source Sans Pro" pitchFamily="34" charset="-122"/>
                <a:cs typeface="Source Sans Pro" pitchFamily="34" charset="-120"/>
              </a:rPr>
              <a:t>Recalculate system safety.</a:t>
            </a:r>
            <a:endParaRPr lang="en-US" sz="1300" dirty="0"/>
          </a:p>
        </p:txBody>
      </p:sp>
      <p:sp>
        <p:nvSpPr>
          <p:cNvPr id="29" name="Shape 27"/>
          <p:cNvSpPr/>
          <p:nvPr/>
        </p:nvSpPr>
        <p:spPr>
          <a:xfrm>
            <a:off x="995898" y="7190661"/>
            <a:ext cx="582216" cy="22860"/>
          </a:xfrm>
          <a:prstGeom prst="roundRect">
            <a:avLst>
              <a:gd name="adj" fmla="val 109164"/>
            </a:avLst>
          </a:prstGeom>
          <a:solidFill>
            <a:srgbClr val="5D606B"/>
          </a:solidFill>
          <a:ln/>
        </p:spPr>
      </p:sp>
      <p:sp>
        <p:nvSpPr>
          <p:cNvPr id="30" name="Shape 28"/>
          <p:cNvSpPr/>
          <p:nvPr/>
        </p:nvSpPr>
        <p:spPr>
          <a:xfrm>
            <a:off x="644545" y="7015043"/>
            <a:ext cx="374213" cy="374213"/>
          </a:xfrm>
          <a:prstGeom prst="roundRect">
            <a:avLst>
              <a:gd name="adj" fmla="val 6669"/>
            </a:avLst>
          </a:prstGeom>
          <a:solidFill>
            <a:srgbClr val="444752"/>
          </a:solidFill>
          <a:ln/>
        </p:spPr>
      </p:sp>
      <p:sp>
        <p:nvSpPr>
          <p:cNvPr id="31" name="Text 29"/>
          <p:cNvSpPr/>
          <p:nvPr/>
        </p:nvSpPr>
        <p:spPr>
          <a:xfrm>
            <a:off x="763726" y="7084695"/>
            <a:ext cx="135731" cy="234910"/>
          </a:xfrm>
          <a:prstGeom prst="rect">
            <a:avLst/>
          </a:prstGeom>
          <a:noFill/>
          <a:ln/>
        </p:spPr>
        <p:txBody>
          <a:bodyPr wrap="none" lIns="0" tIns="0" rIns="0" bIns="0" rtlCol="0" anchor="t"/>
          <a:lstStyle/>
          <a:p>
            <a:pPr algn="ctr" indent="0" marL="0">
              <a:lnSpc>
                <a:spcPts val="1800"/>
              </a:lnSpc>
              <a:buNone/>
            </a:pPr>
            <a:r>
              <a:rPr lang="en-US" sz="1800" dirty="0">
                <a:solidFill>
                  <a:srgbClr val="D6E5EF"/>
                </a:solidFill>
                <a:latin typeface="Lora" pitchFamily="34" charset="0"/>
                <a:ea typeface="Lora" pitchFamily="34" charset="-122"/>
                <a:cs typeface="Lora" pitchFamily="34" charset="-120"/>
              </a:rPr>
              <a:t>6</a:t>
            </a:r>
            <a:endParaRPr lang="en-US" sz="1800" dirty="0"/>
          </a:p>
        </p:txBody>
      </p:sp>
      <p:sp>
        <p:nvSpPr>
          <p:cNvPr id="32" name="Text 30"/>
          <p:cNvSpPr/>
          <p:nvPr/>
        </p:nvSpPr>
        <p:spPr>
          <a:xfrm>
            <a:off x="1746647" y="6994327"/>
            <a:ext cx="1957149" cy="244673"/>
          </a:xfrm>
          <a:prstGeom prst="rect">
            <a:avLst/>
          </a:prstGeom>
          <a:noFill/>
          <a:ln/>
        </p:spPr>
        <p:txBody>
          <a:bodyPr wrap="none" lIns="0" tIns="0" rIns="0" bIns="0" rtlCol="0" anchor="t"/>
          <a:lstStyle/>
          <a:p>
            <a:pPr algn="l" indent="0" marL="0">
              <a:lnSpc>
                <a:spcPts val="1900"/>
              </a:lnSpc>
              <a:buNone/>
            </a:pPr>
            <a:r>
              <a:rPr lang="en-US" sz="1500" dirty="0">
                <a:solidFill>
                  <a:srgbClr val="D6E5EF"/>
                </a:solidFill>
                <a:latin typeface="Lora" pitchFamily="34" charset="0"/>
                <a:ea typeface="Lora" pitchFamily="34" charset="-122"/>
                <a:cs typeface="Lora" pitchFamily="34" charset="-120"/>
              </a:rPr>
              <a:t>Grant or Reject</a:t>
            </a:r>
            <a:endParaRPr lang="en-US" sz="1500" dirty="0"/>
          </a:p>
        </p:txBody>
      </p:sp>
      <p:sp>
        <p:nvSpPr>
          <p:cNvPr id="33" name="Text 31"/>
          <p:cNvSpPr/>
          <p:nvPr/>
        </p:nvSpPr>
        <p:spPr>
          <a:xfrm>
            <a:off x="1746647" y="7338774"/>
            <a:ext cx="12301538" cy="266105"/>
          </a:xfrm>
          <a:prstGeom prst="rect">
            <a:avLst/>
          </a:prstGeom>
          <a:noFill/>
          <a:ln/>
        </p:spPr>
        <p:txBody>
          <a:bodyPr wrap="none" lIns="0" tIns="0" rIns="0" bIns="0" rtlCol="0" anchor="t"/>
          <a:lstStyle/>
          <a:p>
            <a:pPr algn="l" indent="0" marL="0">
              <a:lnSpc>
                <a:spcPts val="2050"/>
              </a:lnSpc>
              <a:buNone/>
            </a:pPr>
            <a:r>
              <a:rPr lang="en-US" sz="1300" dirty="0">
                <a:solidFill>
                  <a:srgbClr val="D6E5EF"/>
                </a:solidFill>
                <a:latin typeface="Source Sans Pro" pitchFamily="34" charset="0"/>
                <a:ea typeface="Source Sans Pro" pitchFamily="34" charset="-122"/>
                <a:cs typeface="Source Sans Pro" pitchFamily="34" charset="-120"/>
              </a:rPr>
              <a:t>If the system remains safe, grant the request; otherwise, reject 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989421"/>
          </a:xfrm>
          <a:prstGeom prst="rect">
            <a:avLst/>
          </a:prstGeom>
        </p:spPr>
      </p:pic>
      <p:sp>
        <p:nvSpPr>
          <p:cNvPr id="3" name="Text 0"/>
          <p:cNvSpPr/>
          <p:nvPr/>
        </p:nvSpPr>
        <p:spPr>
          <a:xfrm>
            <a:off x="837009" y="3647122"/>
            <a:ext cx="6024682" cy="703302"/>
          </a:xfrm>
          <a:prstGeom prst="rect">
            <a:avLst/>
          </a:prstGeom>
          <a:noFill/>
          <a:ln/>
        </p:spPr>
        <p:txBody>
          <a:bodyPr wrap="none" lIns="0" tIns="0" rIns="0" bIns="0" rtlCol="0" anchor="t"/>
          <a:lstStyle/>
          <a:p>
            <a:pPr indent="0" marL="0">
              <a:lnSpc>
                <a:spcPts val="5500"/>
              </a:lnSpc>
              <a:buNone/>
            </a:pPr>
            <a:r>
              <a:rPr lang="en-US" sz="4400" dirty="0">
                <a:solidFill>
                  <a:srgbClr val="F98AC7"/>
                </a:solidFill>
                <a:latin typeface="Lora" pitchFamily="34" charset="0"/>
                <a:ea typeface="Lora" pitchFamily="34" charset="-122"/>
                <a:cs typeface="Lora" pitchFamily="34" charset="-120"/>
              </a:rPr>
              <a:t>Implementation in Java</a:t>
            </a:r>
            <a:endParaRPr lang="en-US" sz="4400" dirty="0"/>
          </a:p>
        </p:txBody>
      </p:sp>
      <p:pic>
        <p:nvPicPr>
          <p:cNvPr id="4" name="Image 1" descr="preencoded.png">    </p:cNvPr>
          <p:cNvPicPr>
            <a:picLocks noChangeAspect="1"/>
          </p:cNvPicPr>
          <p:nvPr/>
        </p:nvPicPr>
        <p:blipFill>
          <a:blip r:embed="rId2"/>
          <a:stretch>
            <a:fillRect/>
          </a:stretch>
        </p:blipFill>
        <p:spPr>
          <a:xfrm>
            <a:off x="837009" y="4709160"/>
            <a:ext cx="597813" cy="597813"/>
          </a:xfrm>
          <a:prstGeom prst="rect">
            <a:avLst/>
          </a:prstGeom>
        </p:spPr>
      </p:pic>
      <p:sp>
        <p:nvSpPr>
          <p:cNvPr id="5" name="Text 1"/>
          <p:cNvSpPr/>
          <p:nvPr/>
        </p:nvSpPr>
        <p:spPr>
          <a:xfrm>
            <a:off x="837009" y="5546050"/>
            <a:ext cx="2813566" cy="351592"/>
          </a:xfrm>
          <a:prstGeom prst="rect">
            <a:avLst/>
          </a:prstGeom>
          <a:noFill/>
          <a:ln/>
        </p:spPr>
        <p:txBody>
          <a:bodyPr wrap="none" lIns="0" tIns="0" rIns="0" bIns="0" rtlCol="0" anchor="t"/>
          <a:lstStyle/>
          <a:p>
            <a:pPr algn="l" indent="0" marL="0">
              <a:lnSpc>
                <a:spcPts val="2750"/>
              </a:lnSpc>
              <a:buNone/>
            </a:pPr>
            <a:r>
              <a:rPr lang="en-US" sz="2200" dirty="0">
                <a:solidFill>
                  <a:srgbClr val="D6E5EF"/>
                </a:solidFill>
                <a:latin typeface="Lora" pitchFamily="34" charset="0"/>
                <a:ea typeface="Lora" pitchFamily="34" charset="-122"/>
                <a:cs typeface="Lora" pitchFamily="34" charset="-120"/>
              </a:rPr>
              <a:t>Java</a:t>
            </a:r>
            <a:endParaRPr lang="en-US" sz="2200" dirty="0"/>
          </a:p>
        </p:txBody>
      </p:sp>
      <p:sp>
        <p:nvSpPr>
          <p:cNvPr id="6" name="Text 2"/>
          <p:cNvSpPr/>
          <p:nvPr/>
        </p:nvSpPr>
        <p:spPr>
          <a:xfrm>
            <a:off x="837009" y="6041112"/>
            <a:ext cx="4079557" cy="1148001"/>
          </a:xfrm>
          <a:prstGeom prst="rect">
            <a:avLst/>
          </a:prstGeom>
          <a:noFill/>
          <a:ln/>
        </p:spPr>
        <p:txBody>
          <a:bodyPr wrap="square" lIns="0" tIns="0" rIns="0" bIns="0" rtlCol="0" anchor="t"/>
          <a:lstStyle/>
          <a:p>
            <a:pPr algn="l" indent="0" marL="0">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Object-oriented programming and data handling capabilities were used to implement the algorithms efficiently.</a:t>
            </a:r>
            <a:endParaRPr lang="en-US" sz="1850" dirty="0"/>
          </a:p>
        </p:txBody>
      </p:sp>
      <p:pic>
        <p:nvPicPr>
          <p:cNvPr id="7" name="Image 2" descr="preencoded.png">    </p:cNvPr>
          <p:cNvPicPr>
            <a:picLocks noChangeAspect="1"/>
          </p:cNvPicPr>
          <p:nvPr/>
        </p:nvPicPr>
        <p:blipFill>
          <a:blip r:embed="rId3"/>
          <a:stretch>
            <a:fillRect/>
          </a:stretch>
        </p:blipFill>
        <p:spPr>
          <a:xfrm>
            <a:off x="5275302" y="4709160"/>
            <a:ext cx="597813" cy="597813"/>
          </a:xfrm>
          <a:prstGeom prst="rect">
            <a:avLst/>
          </a:prstGeom>
        </p:spPr>
      </p:pic>
      <p:sp>
        <p:nvSpPr>
          <p:cNvPr id="8" name="Text 3"/>
          <p:cNvSpPr/>
          <p:nvPr/>
        </p:nvSpPr>
        <p:spPr>
          <a:xfrm>
            <a:off x="5275302" y="5546050"/>
            <a:ext cx="2813566" cy="351592"/>
          </a:xfrm>
          <a:prstGeom prst="rect">
            <a:avLst/>
          </a:prstGeom>
          <a:noFill/>
          <a:ln/>
        </p:spPr>
        <p:txBody>
          <a:bodyPr wrap="none" lIns="0" tIns="0" rIns="0" bIns="0" rtlCol="0" anchor="t"/>
          <a:lstStyle/>
          <a:p>
            <a:pPr algn="l" indent="0" marL="0">
              <a:lnSpc>
                <a:spcPts val="2750"/>
              </a:lnSpc>
              <a:buNone/>
            </a:pPr>
            <a:r>
              <a:rPr lang="en-US" sz="2200" dirty="0">
                <a:solidFill>
                  <a:srgbClr val="D6E5EF"/>
                </a:solidFill>
                <a:latin typeface="Lora" pitchFamily="34" charset="0"/>
                <a:ea typeface="Lora" pitchFamily="34" charset="-122"/>
                <a:cs typeface="Lora" pitchFamily="34" charset="-120"/>
              </a:rPr>
              <a:t>IntelliJ IDEA</a:t>
            </a:r>
            <a:endParaRPr lang="en-US" sz="2200" dirty="0"/>
          </a:p>
        </p:txBody>
      </p:sp>
      <p:sp>
        <p:nvSpPr>
          <p:cNvPr id="9" name="Text 4"/>
          <p:cNvSpPr/>
          <p:nvPr/>
        </p:nvSpPr>
        <p:spPr>
          <a:xfrm>
            <a:off x="5275302" y="6041112"/>
            <a:ext cx="4079677" cy="1148001"/>
          </a:xfrm>
          <a:prstGeom prst="rect">
            <a:avLst/>
          </a:prstGeom>
          <a:noFill/>
          <a:ln/>
        </p:spPr>
        <p:txBody>
          <a:bodyPr wrap="square" lIns="0" tIns="0" rIns="0" bIns="0" rtlCol="0" anchor="t"/>
          <a:lstStyle/>
          <a:p>
            <a:pPr algn="l" indent="0" marL="0">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Used as the Integrated Development Environment (IDE) for code development and debugging.</a:t>
            </a:r>
            <a:endParaRPr lang="en-US" sz="1850" dirty="0"/>
          </a:p>
        </p:txBody>
      </p:sp>
      <p:pic>
        <p:nvPicPr>
          <p:cNvPr id="10" name="Image 3" descr="preencoded.png">    </p:cNvPr>
          <p:cNvPicPr>
            <a:picLocks noChangeAspect="1"/>
          </p:cNvPicPr>
          <p:nvPr/>
        </p:nvPicPr>
        <p:blipFill>
          <a:blip r:embed="rId4"/>
          <a:stretch>
            <a:fillRect/>
          </a:stretch>
        </p:blipFill>
        <p:spPr>
          <a:xfrm>
            <a:off x="9713714" y="4709160"/>
            <a:ext cx="597813" cy="597813"/>
          </a:xfrm>
          <a:prstGeom prst="rect">
            <a:avLst/>
          </a:prstGeom>
        </p:spPr>
      </p:pic>
      <p:sp>
        <p:nvSpPr>
          <p:cNvPr id="11" name="Text 5"/>
          <p:cNvSpPr/>
          <p:nvPr/>
        </p:nvSpPr>
        <p:spPr>
          <a:xfrm>
            <a:off x="9713714" y="5546050"/>
            <a:ext cx="2813566" cy="351592"/>
          </a:xfrm>
          <a:prstGeom prst="rect">
            <a:avLst/>
          </a:prstGeom>
          <a:noFill/>
          <a:ln/>
        </p:spPr>
        <p:txBody>
          <a:bodyPr wrap="none" lIns="0" tIns="0" rIns="0" bIns="0" rtlCol="0" anchor="t"/>
          <a:lstStyle/>
          <a:p>
            <a:pPr algn="l" indent="0" marL="0">
              <a:lnSpc>
                <a:spcPts val="2750"/>
              </a:lnSpc>
              <a:buNone/>
            </a:pPr>
            <a:r>
              <a:rPr lang="en-US" sz="2200" dirty="0">
                <a:solidFill>
                  <a:srgbClr val="D6E5EF"/>
                </a:solidFill>
                <a:latin typeface="Lora" pitchFamily="34" charset="0"/>
                <a:ea typeface="Lora" pitchFamily="34" charset="-122"/>
                <a:cs typeface="Lora" pitchFamily="34" charset="-120"/>
              </a:rPr>
              <a:t>Data Structures</a:t>
            </a:r>
            <a:endParaRPr lang="en-US" sz="2200" dirty="0"/>
          </a:p>
        </p:txBody>
      </p:sp>
      <p:sp>
        <p:nvSpPr>
          <p:cNvPr id="12" name="Text 6"/>
          <p:cNvSpPr/>
          <p:nvPr/>
        </p:nvSpPr>
        <p:spPr>
          <a:xfrm>
            <a:off x="9713714" y="6041112"/>
            <a:ext cx="4079557" cy="1530668"/>
          </a:xfrm>
          <a:prstGeom prst="rect">
            <a:avLst/>
          </a:prstGeom>
          <a:noFill/>
          <a:ln/>
        </p:spPr>
        <p:txBody>
          <a:bodyPr wrap="square" lIns="0" tIns="0" rIns="0" bIns="0" rtlCol="0" anchor="t"/>
          <a:lstStyle/>
          <a:p>
            <a:pPr algn="l" indent="0" marL="0">
              <a:lnSpc>
                <a:spcPts val="3000"/>
              </a:lnSpc>
              <a:buNone/>
            </a:pPr>
            <a:r>
              <a:rPr lang="en-US" sz="1850" dirty="0">
                <a:solidFill>
                  <a:srgbClr val="D6E5EF"/>
                </a:solidFill>
                <a:latin typeface="Source Sans Pro" pitchFamily="34" charset="0"/>
                <a:ea typeface="Source Sans Pro" pitchFamily="34" charset="-122"/>
                <a:cs typeface="Source Sans Pro" pitchFamily="34" charset="-120"/>
              </a:rPr>
              <a:t>Key data structures such as the Available Vector, Max Matrix, Allocation Matrix, and Need Matrix were implemented to represent resource information.</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4398764"/>
          </a:xfrm>
          <a:prstGeom prst="rect">
            <a:avLst/>
          </a:prstGeom>
        </p:spPr>
      </p:pic>
      <p:sp>
        <p:nvSpPr>
          <p:cNvPr id="3" name="Text 0"/>
          <p:cNvSpPr/>
          <p:nvPr/>
        </p:nvSpPr>
        <p:spPr>
          <a:xfrm>
            <a:off x="821055" y="5043845"/>
            <a:ext cx="11837194" cy="689967"/>
          </a:xfrm>
          <a:prstGeom prst="rect">
            <a:avLst/>
          </a:prstGeom>
          <a:noFill/>
          <a:ln/>
        </p:spPr>
        <p:txBody>
          <a:bodyPr wrap="none" lIns="0" tIns="0" rIns="0" bIns="0" rtlCol="0" anchor="t"/>
          <a:lstStyle/>
          <a:p>
            <a:pPr indent="0" marL="0">
              <a:lnSpc>
                <a:spcPts val="5400"/>
              </a:lnSpc>
              <a:buNone/>
            </a:pPr>
            <a:r>
              <a:rPr lang="en-US" sz="4300" dirty="0">
                <a:solidFill>
                  <a:srgbClr val="F98AC7"/>
                </a:solidFill>
                <a:latin typeface="Lora" pitchFamily="34" charset="0"/>
                <a:ea typeface="Lora" pitchFamily="34" charset="-122"/>
                <a:cs typeface="Lora" pitchFamily="34" charset="-120"/>
              </a:rPr>
              <a:t>Conclusion: Achieving Deadlock-Free Systems</a:t>
            </a:r>
            <a:endParaRPr lang="en-US" sz="4300" dirty="0"/>
          </a:p>
        </p:txBody>
      </p:sp>
      <p:sp>
        <p:nvSpPr>
          <p:cNvPr id="4" name="Text 1"/>
          <p:cNvSpPr/>
          <p:nvPr/>
        </p:nvSpPr>
        <p:spPr>
          <a:xfrm>
            <a:off x="821055" y="6085642"/>
            <a:ext cx="12988290" cy="1501140"/>
          </a:xfrm>
          <a:prstGeom prst="rect">
            <a:avLst/>
          </a:prstGeom>
          <a:noFill/>
          <a:ln/>
        </p:spPr>
        <p:txBody>
          <a:bodyPr wrap="square" lIns="0" tIns="0" rIns="0" bIns="0" rtlCol="0" anchor="t"/>
          <a:lstStyle/>
          <a:p>
            <a:pPr indent="0" marL="0">
              <a:lnSpc>
                <a:spcPts val="2950"/>
              </a:lnSpc>
              <a:buNone/>
            </a:pPr>
            <a:r>
              <a:rPr lang="en-US" sz="1800" dirty="0">
                <a:solidFill>
                  <a:srgbClr val="D6E5EF"/>
                </a:solidFill>
                <a:latin typeface="Source Sans Pro" pitchFamily="34" charset="0"/>
                <a:ea typeface="Source Sans Pro" pitchFamily="34" charset="-122"/>
                <a:cs typeface="Source Sans Pro" pitchFamily="34" charset="-120"/>
              </a:rPr>
              <a:t>Implementing the Banker’s and Resource-Request Algorithms in Java provides a practical understanding of how operating systems manage resources to avoid deadlocks. This project showcases their effectiveness in maintaining system stability, preventing circular resource dependencies, and ensuring efficient system operation. These algorithms play a vital role in the development of robust and reliable operating systems.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2024-12-11T05:53:23Z</dcterms:created>
  <dcterms:modified xsi:type="dcterms:W3CDTF">2024-12-11T05:53:23Z</dcterms:modified>
</cp:coreProperties>
</file>